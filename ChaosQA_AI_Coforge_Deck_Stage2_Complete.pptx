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412480" cy="25603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MVP Coverage: Every Submitted Use Case Is Demonstrable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146304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STAGE 2 | MVP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74536"/>
            <a:ext cx="3657600" cy="1371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700" b="0">
                <a:solidFill>
                  <a:srgbClr val="5F6978"/>
                </a:solidFill>
                <a:latin typeface="Aptos"/>
              </a:rPr>
              <a:t>COFORGE 2026  |  CHAOSQA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800" b="1">
                <a:solidFill>
                  <a:srgbClr val="F26323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300" b="0">
                <a:solidFill>
                  <a:srgbClr val="1D2432"/>
                </a:solidFill>
                <a:latin typeface="Aptos"/>
              </a:rPr>
              <a:t>The playground is not a random-click demo. Each required behavior has a visible trigger, an expected oracle, and a reportable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3401568" cy="1261872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64008" cy="126187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81912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50" b="1">
                <a:solidFill>
                  <a:srgbClr val="121B30"/>
                </a:solidFill>
                <a:latin typeface="Aptos"/>
              </a:rPr>
              <a:t>01  Dynamic AI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29968"/>
            <a:ext cx="3035808" cy="512063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30" b="0">
                <a:solidFill>
                  <a:srgbClr val="5F6978"/>
                </a:solidFill>
                <a:latin typeface="Aptos"/>
              </a:rPr>
              <a:t>Live DOM snapshot → LLM chooses the next safe action; no fixed script.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417320"/>
            <a:ext cx="3401568" cy="1261872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17320"/>
            <a:ext cx="64008" cy="126187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581912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50" b="1">
                <a:solidFill>
                  <a:srgbClr val="121B30"/>
                </a:solidFill>
                <a:latin typeface="Aptos"/>
              </a:rPr>
              <a:t>02  Chaos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029968"/>
            <a:ext cx="3035808" cy="512063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30" b="0">
                <a:solidFill>
                  <a:srgbClr val="5F6978"/>
                </a:solidFill>
                <a:latin typeface="Aptos"/>
              </a:rPr>
              <a:t>Double-clicks, repeats, waits, back/forward, refresh, and interrupted journeys.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417320"/>
            <a:ext cx="3401568" cy="1261872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417320"/>
            <a:ext cx="64008" cy="126187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581912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50" b="1">
                <a:solidFill>
                  <a:srgbClr val="121B30"/>
                </a:solidFill>
                <a:latin typeface="Aptos"/>
              </a:rPr>
              <a:t>03  Edge-case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029968"/>
            <a:ext cx="3035808" cy="512063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30" b="0">
                <a:solidFill>
                  <a:srgbClr val="5F6978"/>
                </a:solidFill>
                <a:latin typeface="Aptos"/>
              </a:rPr>
              <a:t>Empty, negative, fractional, unsafe-large quantities and malformed promo/email/card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990088"/>
            <a:ext cx="3401568" cy="1261872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990088"/>
            <a:ext cx="64008" cy="1261872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154680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50" b="1">
                <a:solidFill>
                  <a:srgbClr val="121B30"/>
                </a:solidFill>
                <a:latin typeface="Aptos"/>
              </a:rPr>
              <a:t>04  Concurrency &amp; 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602736"/>
            <a:ext cx="3035808" cy="512063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30" b="0">
                <a:solidFill>
                  <a:srgbClr val="5F6978"/>
                </a:solidFill>
                <a:latin typeface="Aptos"/>
              </a:rPr>
              <a:t>Idempotent pay lock, inventory re-check, and multi-tab cart synchronization.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2990088"/>
            <a:ext cx="3401568" cy="1261872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2990088"/>
            <a:ext cx="64008" cy="1261872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3154680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50" b="1">
                <a:solidFill>
                  <a:srgbClr val="121B30"/>
                </a:solidFill>
                <a:latin typeface="Aptos"/>
              </a:rPr>
              <a:t>05  Anomaly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602736"/>
            <a:ext cx="3035808" cy="512063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30" b="0">
                <a:solidFill>
                  <a:srgbClr val="5F6978"/>
                </a:solidFill>
                <a:latin typeface="Aptos"/>
              </a:rPr>
              <a:t>Crash, navigation, validation, UI-state, data-handling, and unexpected-error signals.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2990088"/>
            <a:ext cx="3401568" cy="1261872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01583" y="2990088"/>
            <a:ext cx="64008" cy="1261872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154680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50" b="1">
                <a:solidFill>
                  <a:srgbClr val="121B30"/>
                </a:solidFill>
                <a:latin typeface="Aptos"/>
              </a:rPr>
              <a:t>06  Evidence-rich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602736"/>
            <a:ext cx="3035808" cy="512063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30" b="0">
                <a:solidFill>
                  <a:srgbClr val="5F6978"/>
                </a:solidFill>
                <a:latin typeface="Aptos"/>
              </a:rPr>
              <a:t>Severity, confidence, repro action, URL, evidence, recommendation, and screenshot trail.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983480"/>
            <a:ext cx="10972800" cy="25603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DEMO PATH  |  Search → product → quantity boundary → bag → promo → checkout → report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440680"/>
            <a:ext cx="11045952" cy="502920"/>
          </a:xfrm>
          <a:prstGeom prst="roundRect">
            <a:avLst/>
          </a:prstGeom>
          <a:solidFill>
            <a:srgbClr val="FFF4EE"/>
          </a:solidFill>
          <a:ln>
            <a:solidFill>
              <a:srgbClr val="FF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596128"/>
            <a:ext cx="10652760" cy="1645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50" b="1">
                <a:solidFill>
                  <a:srgbClr val="854324"/>
                </a:solidFill>
                <a:latin typeface="Aptos"/>
              </a:rPr>
              <a:t>Scope discipline: web-first MVP; native mobile, visual pixel diff, and real payment processing remain intentionally out of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412480" cy="25603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The Edge-Case Lab: From Taxonomy to Test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146304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STAGE 2 |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74536"/>
            <a:ext cx="3657600" cy="1371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700" b="0">
                <a:solidFill>
                  <a:srgbClr val="5F6978"/>
                </a:solidFill>
                <a:latin typeface="Aptos"/>
              </a:rPr>
              <a:t>COFORGE 2026  |  CHAOSQA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800" b="1">
                <a:solidFill>
                  <a:srgbClr val="F26323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300" b="0">
                <a:solidFill>
                  <a:srgbClr val="1D2432"/>
                </a:solidFill>
                <a:latin typeface="Aptos"/>
              </a:rPr>
              <a:t>Every category from the real-world brief becomes a controlled journey in Orchard—not a claim on a checklist.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2148840" cy="2194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CONCURRENCY</a:t>
            </a:r>
          </a:p>
        </p:txBody>
      </p:sp>
      <p:sp>
        <p:nvSpPr>
          <p:cNvPr id="9" name="Chevron 8"/>
          <p:cNvSpPr/>
          <p:nvPr/>
        </p:nvSpPr>
        <p:spPr>
          <a:xfrm>
            <a:off x="2788920" y="1563624"/>
            <a:ext cx="292608" cy="228600"/>
          </a:xfrm>
          <a:prstGeom prst="chevron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3520440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64008" cy="566928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499616"/>
            <a:ext cx="3172968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Agent stimulus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709928"/>
            <a:ext cx="3154680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Triple-click Place order</a:t>
            </a:r>
          </a:p>
        </p:txBody>
      </p:sp>
      <p:sp>
        <p:nvSpPr>
          <p:cNvPr id="14" name="Chevron 13"/>
          <p:cNvSpPr/>
          <p:nvPr/>
        </p:nvSpPr>
        <p:spPr>
          <a:xfrm>
            <a:off x="6967728" y="1563624"/>
            <a:ext cx="292608" cy="228600"/>
          </a:xfrm>
          <a:prstGeom prst="chevron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24927" y="1417320"/>
            <a:ext cx="4187952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24927" y="1417320"/>
            <a:ext cx="64008" cy="566928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499616"/>
            <a:ext cx="3840480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Expected oracle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1709928"/>
            <a:ext cx="3822191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Button lock + one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13432"/>
            <a:ext cx="2148840" cy="2194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BOUNDARY / TYPE</a:t>
            </a:r>
          </a:p>
        </p:txBody>
      </p:sp>
      <p:sp>
        <p:nvSpPr>
          <p:cNvPr id="20" name="Chevron 19"/>
          <p:cNvSpPr/>
          <p:nvPr/>
        </p:nvSpPr>
        <p:spPr>
          <a:xfrm>
            <a:off x="2788920" y="2322576"/>
            <a:ext cx="292608" cy="228600"/>
          </a:xfrm>
          <a:prstGeom prst="chevron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6120" y="2176272"/>
            <a:ext cx="3520440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2176272"/>
            <a:ext cx="64008" cy="566928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288" y="2258568"/>
            <a:ext cx="3172968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Agent stimulus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2468879"/>
            <a:ext cx="3154680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−50, 1.5, 10¹⁸ quantity</a:t>
            </a:r>
          </a:p>
        </p:txBody>
      </p:sp>
      <p:sp>
        <p:nvSpPr>
          <p:cNvPr id="25" name="Chevron 24"/>
          <p:cNvSpPr/>
          <p:nvPr/>
        </p:nvSpPr>
        <p:spPr>
          <a:xfrm>
            <a:off x="6967728" y="2322576"/>
            <a:ext cx="292608" cy="228600"/>
          </a:xfrm>
          <a:prstGeom prst="chevron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24927" y="2176272"/>
            <a:ext cx="4187952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4927" y="2176272"/>
            <a:ext cx="64008" cy="566928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258568"/>
            <a:ext cx="3840480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Expected oracle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2468879"/>
            <a:ext cx="3822191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Safe integer + min/max guard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072384"/>
            <a:ext cx="2148840" cy="2194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STATE DESYNC</a:t>
            </a:r>
          </a:p>
        </p:txBody>
      </p:sp>
      <p:sp>
        <p:nvSpPr>
          <p:cNvPr id="31" name="Chevron 30"/>
          <p:cNvSpPr/>
          <p:nvPr/>
        </p:nvSpPr>
        <p:spPr>
          <a:xfrm>
            <a:off x="2788920" y="3081528"/>
            <a:ext cx="292608" cy="228600"/>
          </a:xfrm>
          <a:prstGeom prst="chevron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46120" y="2935224"/>
            <a:ext cx="3520440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46120" y="2935224"/>
            <a:ext cx="64008" cy="566928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7288" y="3017520"/>
            <a:ext cx="3172968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Agent stimulus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7288" y="3227832"/>
            <a:ext cx="3154680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Delete in Tab A, pay in Tab B</a:t>
            </a:r>
          </a:p>
        </p:txBody>
      </p:sp>
      <p:sp>
        <p:nvSpPr>
          <p:cNvPr id="36" name="Chevron 35"/>
          <p:cNvSpPr/>
          <p:nvPr/>
        </p:nvSpPr>
        <p:spPr>
          <a:xfrm>
            <a:off x="6967728" y="3081528"/>
            <a:ext cx="292608" cy="228600"/>
          </a:xfrm>
          <a:prstGeom prst="chevron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24927" y="2935224"/>
            <a:ext cx="4187952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24927" y="2935224"/>
            <a:ext cx="64008" cy="566928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6096" y="3017520"/>
            <a:ext cx="3840480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Expected oracle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6096" y="3227832"/>
            <a:ext cx="3822191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Storage event + inventory re-check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831336"/>
            <a:ext cx="2148840" cy="2194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MALFORMED PAYLOAD</a:t>
            </a:r>
          </a:p>
        </p:txBody>
      </p:sp>
      <p:sp>
        <p:nvSpPr>
          <p:cNvPr id="42" name="Chevron 41"/>
          <p:cNvSpPr/>
          <p:nvPr/>
        </p:nvSpPr>
        <p:spPr>
          <a:xfrm>
            <a:off x="2788920" y="3840480"/>
            <a:ext cx="292608" cy="228600"/>
          </a:xfrm>
          <a:prstGeom prst="chevron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46120" y="3694176"/>
            <a:ext cx="3520440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6120" y="3694176"/>
            <a:ext cx="64008" cy="566928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47288" y="3776472"/>
            <a:ext cx="3172968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Agent stimulus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7288" y="3986784"/>
            <a:ext cx="3154680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Injection-shaped promo string</a:t>
            </a:r>
          </a:p>
        </p:txBody>
      </p:sp>
      <p:sp>
        <p:nvSpPr>
          <p:cNvPr id="47" name="Chevron 46"/>
          <p:cNvSpPr/>
          <p:nvPr/>
        </p:nvSpPr>
        <p:spPr>
          <a:xfrm>
            <a:off x="6967728" y="3840480"/>
            <a:ext cx="292608" cy="228600"/>
          </a:xfrm>
          <a:prstGeom prst="chevron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24927" y="3694176"/>
            <a:ext cx="4187952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24927" y="3694176"/>
            <a:ext cx="64008" cy="566928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26096" y="3776472"/>
            <a:ext cx="3840480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Expected oracle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3986784"/>
            <a:ext cx="3822191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Length/character guard; no eval/SQL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4590288"/>
            <a:ext cx="2148840" cy="2194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SILENT FAILURE</a:t>
            </a:r>
          </a:p>
        </p:txBody>
      </p:sp>
      <p:sp>
        <p:nvSpPr>
          <p:cNvPr id="53" name="Chevron 52"/>
          <p:cNvSpPr/>
          <p:nvPr/>
        </p:nvSpPr>
        <p:spPr>
          <a:xfrm>
            <a:off x="2788920" y="4599432"/>
            <a:ext cx="292608" cy="228600"/>
          </a:xfrm>
          <a:prstGeom prst="chevron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246120" y="4453128"/>
            <a:ext cx="3520440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46120" y="4453128"/>
            <a:ext cx="64008" cy="566928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47288" y="4535424"/>
            <a:ext cx="3172968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Agent stimulus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47288" y="4745736"/>
            <a:ext cx="3154680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Simulated rejected payment</a:t>
            </a:r>
          </a:p>
        </p:txBody>
      </p:sp>
      <p:sp>
        <p:nvSpPr>
          <p:cNvPr id="58" name="Chevron 57"/>
          <p:cNvSpPr/>
          <p:nvPr/>
        </p:nvSpPr>
        <p:spPr>
          <a:xfrm>
            <a:off x="6967728" y="4599432"/>
            <a:ext cx="292608" cy="228600"/>
          </a:xfrm>
          <a:prstGeom prst="chevron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424927" y="4453128"/>
            <a:ext cx="4187952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24927" y="4453128"/>
            <a:ext cx="64008" cy="566928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26096" y="4535424"/>
            <a:ext cx="3840480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1">
                <a:solidFill>
                  <a:srgbClr val="121B30"/>
                </a:solidFill>
                <a:latin typeface="Aptos"/>
              </a:rPr>
              <a:t>Expected oracle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6096" y="4745736"/>
            <a:ext cx="3822191" cy="201167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Visible alert + captured evidence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553212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121B30"/>
                </a:solidFill>
                <a:latin typeface="Aptos"/>
              </a:rPr>
              <a:t>REPORT CONTRACT  |  handled boundary = EDGE_CASE  •  broken contract = EXCEPTION  •  every finding keeps repro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412480" cy="25603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The Category Gap: QA Tools Test Flows. ChaosQA Tests Reality.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146304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STAGE 2 |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74536"/>
            <a:ext cx="3657600" cy="1371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700" b="0">
                <a:solidFill>
                  <a:srgbClr val="5F6978"/>
                </a:solidFill>
                <a:latin typeface="Aptos"/>
              </a:rPr>
              <a:t>COFORGE 2026  |  CHAOSQA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800" b="1">
                <a:solidFill>
                  <a:srgbClr val="F26323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0">
                <a:solidFill>
                  <a:srgbClr val="1D2432"/>
                </a:solidFill>
                <a:latin typeface="Aptos"/>
              </a:rPr>
              <a:t>Most tools verify what teams already expect. ChaosQA discovers what customers do when intent, patience, and state collide.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3401568" cy="1874519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44752"/>
            <a:ext cx="64008" cy="1874519"/>
          </a:xfrm>
          <a:prstGeom prst="rect">
            <a:avLst/>
          </a:prstGeom>
          <a:solidFill>
            <a:srgbClr val="8F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9344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1">
                <a:solidFill>
                  <a:srgbClr val="121B30"/>
                </a:solidFill>
                <a:latin typeface="Aptos"/>
              </a:rPr>
              <a:t>Scripted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57400"/>
            <a:ext cx="3035808" cy="112471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Fixed paths
Known assertions
Regression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2121408"/>
            <a:ext cx="27432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20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44752"/>
            <a:ext cx="3401568" cy="1874519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44752"/>
            <a:ext cx="64008" cy="1874519"/>
          </a:xfrm>
          <a:prstGeom prst="rect">
            <a:avLst/>
          </a:prstGeom>
          <a:solidFill>
            <a:srgbClr val="758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09344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1">
                <a:solidFill>
                  <a:srgbClr val="121B30"/>
                </a:solidFill>
                <a:latin typeface="Aptos"/>
              </a:rPr>
              <a:t>AI-assisted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57400"/>
            <a:ext cx="3035808" cy="112471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Human-authored scenarios
AI helps write or heal tests
Still script-led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2121408"/>
            <a:ext cx="27432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20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444752"/>
            <a:ext cx="3401568" cy="1874519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444752"/>
            <a:ext cx="64008" cy="1874519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609344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1">
                <a:solidFill>
                  <a:srgbClr val="121B30"/>
                </a:solidFill>
                <a:latin typeface="Aptos"/>
              </a:rPr>
              <a:t>ChaosQA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057400"/>
            <a:ext cx="3035808" cy="112471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Live DOM perception
Persona-driven behavior
Memory + evidence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75887"/>
            <a:ext cx="804672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Our moat is not “AI”. It is the closed loop between behavior, memory, and proof.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160520"/>
            <a:ext cx="3401568" cy="1426464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160520"/>
            <a:ext cx="64008" cy="1426464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325112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1">
                <a:solidFill>
                  <a:srgbClr val="121B30"/>
                </a:solidFill>
                <a:latin typeface="Aptos"/>
              </a:rPr>
              <a:t>01  Simulate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773168"/>
            <a:ext cx="3035808" cy="6766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0">
                <a:solidFill>
                  <a:srgbClr val="5F6978"/>
                </a:solidFill>
                <a:latin typeface="Aptos"/>
              </a:rPr>
              <a:t>Rage-clicker, confused navigator, adversarial tester — believable misuse, not random noise.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4160520"/>
            <a:ext cx="3401568" cy="1426464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4256" y="4160520"/>
            <a:ext cx="64008" cy="1426464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4325112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1">
                <a:solidFill>
                  <a:srgbClr val="121B30"/>
                </a:solidFill>
                <a:latin typeface="Aptos"/>
              </a:rPr>
              <a:t>02  Remember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4773168"/>
            <a:ext cx="3035808" cy="6766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0">
                <a:solidFill>
                  <a:srgbClr val="5F6978"/>
                </a:solidFill>
                <a:latin typeface="Aptos"/>
              </a:rPr>
              <a:t>Persistent action signatures prevent repeat work and push every run toward unexplored state.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4160520"/>
            <a:ext cx="3401568" cy="1426464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1583" y="4160520"/>
            <a:ext cx="64008" cy="1426464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4325112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1">
                <a:solidFill>
                  <a:srgbClr val="121B30"/>
                </a:solidFill>
                <a:latin typeface="Aptos"/>
              </a:rPr>
              <a:t>03  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773168"/>
            <a:ext cx="3035808" cy="6766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0">
                <a:solidFill>
                  <a:srgbClr val="5F6978"/>
                </a:solidFill>
                <a:latin typeface="Aptos"/>
              </a:rPr>
              <a:t>Repro trace + screenshots + severity + exception/edge-case split turns discovery into action.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POSITIONING  |  The autonomous exploratory layer between “tests pass” and “customers suffer.”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412480" cy="25603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Why ChaosQA Wins the Edge-Case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146304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STAGE 2 |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74536"/>
            <a:ext cx="3657600" cy="1371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700" b="0">
                <a:solidFill>
                  <a:srgbClr val="5F6978"/>
                </a:solidFill>
                <a:latin typeface="Aptos"/>
              </a:rPr>
              <a:t>COFORGE 2026  |  CHAOSQA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800" b="1">
                <a:solidFill>
                  <a:srgbClr val="F2632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0">
                <a:solidFill>
                  <a:srgbClr val="1D2432"/>
                </a:solidFill>
                <a:latin typeface="Aptos"/>
              </a:rPr>
              <a:t>A production incident is rarely a missing happy-path test. It is a believable sequence no one thought to script.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572768"/>
            <a:ext cx="438912" cy="438912"/>
          </a:xfrm>
          <a:prstGeom prst="ellipse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82496"/>
            <a:ext cx="438912" cy="1554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673352"/>
            <a:ext cx="32004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8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76272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LIVE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23744"/>
            <a:ext cx="2267712" cy="6217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0">
                <a:solidFill>
                  <a:srgbClr val="5F6978"/>
                </a:solidFill>
                <a:latin typeface="Aptos"/>
              </a:rPr>
              <a:t>Reads the current DOM, controls, route, and visible state.</a:t>
            </a:r>
          </a:p>
        </p:txBody>
      </p:sp>
      <p:sp>
        <p:nvSpPr>
          <p:cNvPr id="13" name="Oval 12"/>
          <p:cNvSpPr/>
          <p:nvPr/>
        </p:nvSpPr>
        <p:spPr>
          <a:xfrm>
            <a:off x="3401568" y="1572768"/>
            <a:ext cx="438912" cy="438912"/>
          </a:xfrm>
          <a:prstGeom prst="ellipse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682496"/>
            <a:ext cx="438912" cy="1554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1673352"/>
            <a:ext cx="32004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8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176272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BEHAVIOR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523744"/>
            <a:ext cx="2267712" cy="6217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0">
                <a:solidFill>
                  <a:srgbClr val="5F6978"/>
                </a:solidFill>
                <a:latin typeface="Aptos"/>
              </a:rPr>
              <a:t>Chooses the next action as a customer persona with a goal.</a:t>
            </a:r>
          </a:p>
        </p:txBody>
      </p:sp>
      <p:sp>
        <p:nvSpPr>
          <p:cNvPr id="18" name="Oval 17"/>
          <p:cNvSpPr/>
          <p:nvPr/>
        </p:nvSpPr>
        <p:spPr>
          <a:xfrm>
            <a:off x="6236208" y="1572768"/>
            <a:ext cx="438912" cy="438912"/>
          </a:xfrm>
          <a:prstGeom prst="ellipse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682496"/>
            <a:ext cx="438912" cy="1554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1673352"/>
            <a:ext cx="32004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8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176272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CHAOS 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523744"/>
            <a:ext cx="2267712" cy="6217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0">
                <a:solidFill>
                  <a:srgbClr val="5F6978"/>
                </a:solidFill>
                <a:latin typeface="Aptos"/>
              </a:rPr>
              <a:t>Pushes boundaries: duplicate pay, stale cart, malformed input, race.</a:t>
            </a:r>
          </a:p>
        </p:txBody>
      </p:sp>
      <p:sp>
        <p:nvSpPr>
          <p:cNvPr id="23" name="Oval 22"/>
          <p:cNvSpPr/>
          <p:nvPr/>
        </p:nvSpPr>
        <p:spPr>
          <a:xfrm>
            <a:off x="9070848" y="1572768"/>
            <a:ext cx="438912" cy="438912"/>
          </a:xfrm>
          <a:prstGeom prst="ellipse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1682496"/>
            <a:ext cx="438912" cy="1554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176272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DECISION-READY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2523744"/>
            <a:ext cx="2267712" cy="6217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0">
                <a:solidFill>
                  <a:srgbClr val="5F6978"/>
                </a:solidFill>
                <a:latin typeface="Aptos"/>
              </a:rPr>
              <a:t>Classifies exception vs edge case and ships an evidence-rich report.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20440"/>
            <a:ext cx="11045952" cy="160020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67328"/>
            <a:ext cx="2377440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FAB81"/>
                </a:solidFill>
                <a:latin typeface="Aptos"/>
              </a:rPr>
              <a:t>STANDOUT DEMO MOMENT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069080"/>
            <a:ext cx="640080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“The same app, after one run, is no longer the same search space.”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590288"/>
            <a:ext cx="676656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0">
                <a:solidFill>
                  <a:srgbClr val="DAE1EC"/>
                </a:solidFill>
                <a:latin typeface="Aptos"/>
              </a:rPr>
              <a:t>Run 1 discovers a stale-cart path.
Run 2 remembers it, skips the duplicate, and targets a new failure boundary.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767328"/>
            <a:ext cx="2852928" cy="1078992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66760" y="3767328"/>
            <a:ext cx="64008" cy="107899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7928" y="3931920"/>
            <a:ext cx="250545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Value in one 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4379976"/>
            <a:ext cx="2487168" cy="329184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50" b="0">
                <a:solidFill>
                  <a:srgbClr val="5F6978"/>
                </a:solidFill>
                <a:latin typeface="Aptos"/>
              </a:rPr>
              <a:t>Less scripted coverage. More unknown defects found — with proof engineers can reproduce.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806440"/>
            <a:ext cx="1097280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UNIQUE VALUE  |  Customer behavior is the test plan. Memory is the accelerator. Evidence is the output.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74536"/>
            <a:ext cx="3657600" cy="1371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700" b="0">
                <a:solidFill>
                  <a:srgbClr val="5F6978"/>
                </a:solidFill>
                <a:latin typeface="Aptos"/>
              </a:rPr>
              <a:t>COFORGE 2026  |  CHAOSQA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800" b="1">
                <a:solidFill>
                  <a:srgbClr val="F2632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