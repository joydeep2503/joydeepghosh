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412480" cy="25603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The Category Gap: QA Tools Test Flows. ChaosQA Tests Reality.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146304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STAGE 2 |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74536"/>
            <a:ext cx="3657600" cy="13716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700" b="0">
                <a:solidFill>
                  <a:srgbClr val="5F6978"/>
                </a:solidFill>
                <a:latin typeface="Aptos"/>
              </a:rPr>
              <a:t>COFORGE 2026  |  CHAOSQA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r"/>
            <a:r>
              <a:rPr sz="800" b="1">
                <a:solidFill>
                  <a:srgbClr val="F26323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400" b="0">
                <a:solidFill>
                  <a:srgbClr val="1D2432"/>
                </a:solidFill>
                <a:latin typeface="Aptos"/>
              </a:rPr>
              <a:t>Most tools verify what teams already expect. ChaosQA discovers what customers do when intent, patience, and state collide.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3401568" cy="1874519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44752"/>
            <a:ext cx="64008" cy="1874519"/>
          </a:xfrm>
          <a:prstGeom prst="rect">
            <a:avLst/>
          </a:prstGeom>
          <a:solidFill>
            <a:srgbClr val="8F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09344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400" b="1">
                <a:solidFill>
                  <a:srgbClr val="121B30"/>
                </a:solidFill>
                <a:latin typeface="Aptos"/>
              </a:rPr>
              <a:t>Scripted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57400"/>
            <a:ext cx="3035808" cy="112471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Fixed paths
Known assertions
Regression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2121408"/>
            <a:ext cx="274320" cy="2743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2000" b="1">
                <a:solidFill>
                  <a:srgbClr val="F2632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444752"/>
            <a:ext cx="3401568" cy="1874519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444752"/>
            <a:ext cx="64008" cy="1874519"/>
          </a:xfrm>
          <a:prstGeom prst="rect">
            <a:avLst/>
          </a:prstGeom>
          <a:solidFill>
            <a:srgbClr val="758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609344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400" b="1">
                <a:solidFill>
                  <a:srgbClr val="121B30"/>
                </a:solidFill>
                <a:latin typeface="Aptos"/>
              </a:rPr>
              <a:t>AI-assisted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057400"/>
            <a:ext cx="3035808" cy="112471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Human-authored scenarios
AI helps write or heal tests
Still script-led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2121408"/>
            <a:ext cx="274320" cy="2743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2000" b="1">
                <a:solidFill>
                  <a:srgbClr val="F26323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444752"/>
            <a:ext cx="3401568" cy="1874519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444752"/>
            <a:ext cx="64008" cy="1874519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1609344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400" b="1">
                <a:solidFill>
                  <a:srgbClr val="121B30"/>
                </a:solidFill>
                <a:latin typeface="Aptos"/>
              </a:rPr>
              <a:t>ChaosQA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057400"/>
            <a:ext cx="3035808" cy="112471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Live DOM perception
Persona-driven behavior
Memory + evidence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675887"/>
            <a:ext cx="8046720" cy="2743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300" b="1">
                <a:solidFill>
                  <a:srgbClr val="121B30"/>
                </a:solidFill>
                <a:latin typeface="Aptos"/>
              </a:rPr>
              <a:t>Our moat is not “AI”. It is the closed loop between behavior, memory, and proof.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160520"/>
            <a:ext cx="3401568" cy="1426464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160520"/>
            <a:ext cx="64008" cy="1426464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325112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200" b="1">
                <a:solidFill>
                  <a:srgbClr val="121B30"/>
                </a:solidFill>
                <a:latin typeface="Aptos"/>
              </a:rPr>
              <a:t>01  Simulate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773168"/>
            <a:ext cx="3035808" cy="67665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0">
                <a:solidFill>
                  <a:srgbClr val="5F6978"/>
                </a:solidFill>
                <a:latin typeface="Aptos"/>
              </a:rPr>
              <a:t>Rage-clicker, confused navigator, adversarial tester — believable misuse, not random noise.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6" y="4160520"/>
            <a:ext cx="3401568" cy="1426464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4256" y="4160520"/>
            <a:ext cx="64008" cy="1426464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5424" y="4325112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200" b="1">
                <a:solidFill>
                  <a:srgbClr val="121B30"/>
                </a:solidFill>
                <a:latin typeface="Aptos"/>
              </a:rPr>
              <a:t>02  Remember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4773168"/>
            <a:ext cx="3035808" cy="67665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0">
                <a:solidFill>
                  <a:srgbClr val="5F6978"/>
                </a:solidFill>
                <a:latin typeface="Aptos"/>
              </a:rPr>
              <a:t>Persistent action signatures prevent repeat work and push every run toward unexplored state.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3" y="4160520"/>
            <a:ext cx="3401568" cy="1426464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01583" y="4160520"/>
            <a:ext cx="64008" cy="1426464"/>
          </a:xfrm>
          <a:prstGeom prst="rect">
            <a:avLst/>
          </a:prstGeom>
          <a:solidFill>
            <a:srgbClr val="17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4325112"/>
            <a:ext cx="305409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200" b="1">
                <a:solidFill>
                  <a:srgbClr val="121B30"/>
                </a:solidFill>
                <a:latin typeface="Aptos"/>
              </a:rPr>
              <a:t>03  Prove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773168"/>
            <a:ext cx="3035808" cy="676656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0">
                <a:solidFill>
                  <a:srgbClr val="5F6978"/>
                </a:solidFill>
                <a:latin typeface="Aptos"/>
              </a:rPr>
              <a:t>Repro trace + screenshots + severity + exception/edge-case split turns discovery into action.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1">
                <a:solidFill>
                  <a:srgbClr val="F26323"/>
                </a:solidFill>
                <a:latin typeface="Aptos"/>
              </a:rPr>
              <a:t>POSITIONING  |  The autonomous exploratory layer between “tests pass” and “customers suffer.”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412480" cy="25603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Why ChaosQA Wins the Edge-Case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146304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STAGE 2 |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74536"/>
            <a:ext cx="3657600" cy="13716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700" b="0">
                <a:solidFill>
                  <a:srgbClr val="5F6978"/>
                </a:solidFill>
                <a:latin typeface="Aptos"/>
              </a:rPr>
              <a:t>COFORGE 2026  |  CHAOSQA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r"/>
            <a:r>
              <a:rPr sz="800" b="1">
                <a:solidFill>
                  <a:srgbClr val="F26323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400" b="0">
                <a:solidFill>
                  <a:srgbClr val="1D2432"/>
                </a:solidFill>
                <a:latin typeface="Aptos"/>
              </a:rPr>
              <a:t>A production incident is rarely a missing happy-path test. It is a believable sequence no one thought to script.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1572768"/>
            <a:ext cx="438912" cy="438912"/>
          </a:xfrm>
          <a:prstGeom prst="ellipse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82496"/>
            <a:ext cx="438912" cy="1554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1673352"/>
            <a:ext cx="32004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1800" b="1">
                <a:solidFill>
                  <a:srgbClr val="F26323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76272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00" b="1">
                <a:solidFill>
                  <a:srgbClr val="121B30"/>
                </a:solidFill>
                <a:latin typeface="Aptos"/>
              </a:rPr>
              <a:t>LIVE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523744"/>
            <a:ext cx="2267712" cy="62179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0">
                <a:solidFill>
                  <a:srgbClr val="5F6978"/>
                </a:solidFill>
                <a:latin typeface="Aptos"/>
              </a:rPr>
              <a:t>Reads the current DOM, controls, route, and visible state.</a:t>
            </a:r>
          </a:p>
        </p:txBody>
      </p:sp>
      <p:sp>
        <p:nvSpPr>
          <p:cNvPr id="13" name="Oval 12"/>
          <p:cNvSpPr/>
          <p:nvPr/>
        </p:nvSpPr>
        <p:spPr>
          <a:xfrm>
            <a:off x="3401568" y="1572768"/>
            <a:ext cx="438912" cy="438912"/>
          </a:xfrm>
          <a:prstGeom prst="ellipse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1682496"/>
            <a:ext cx="438912" cy="1554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1673352"/>
            <a:ext cx="32004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1800" b="1">
                <a:solidFill>
                  <a:srgbClr val="F26323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176272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00" b="1">
                <a:solidFill>
                  <a:srgbClr val="121B30"/>
                </a:solidFill>
                <a:latin typeface="Aptos"/>
              </a:rPr>
              <a:t>BEHAVIOR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523744"/>
            <a:ext cx="2267712" cy="62179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0">
                <a:solidFill>
                  <a:srgbClr val="5F6978"/>
                </a:solidFill>
                <a:latin typeface="Aptos"/>
              </a:rPr>
              <a:t>Chooses the next action as a customer persona with a goal.</a:t>
            </a:r>
          </a:p>
        </p:txBody>
      </p:sp>
      <p:sp>
        <p:nvSpPr>
          <p:cNvPr id="18" name="Oval 17"/>
          <p:cNvSpPr/>
          <p:nvPr/>
        </p:nvSpPr>
        <p:spPr>
          <a:xfrm>
            <a:off x="6236208" y="1572768"/>
            <a:ext cx="438912" cy="438912"/>
          </a:xfrm>
          <a:prstGeom prst="ellipse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682496"/>
            <a:ext cx="438912" cy="1554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1673352"/>
            <a:ext cx="32004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1800" b="1">
                <a:solidFill>
                  <a:srgbClr val="F26323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176272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00" b="1">
                <a:solidFill>
                  <a:srgbClr val="121B30"/>
                </a:solidFill>
                <a:latin typeface="Aptos"/>
              </a:rPr>
              <a:t>CHAOS INJECTION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2523744"/>
            <a:ext cx="2267712" cy="62179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0">
                <a:solidFill>
                  <a:srgbClr val="5F6978"/>
                </a:solidFill>
                <a:latin typeface="Aptos"/>
              </a:rPr>
              <a:t>Pushes boundaries: duplicate pay, stale cart, malformed input, race.</a:t>
            </a:r>
          </a:p>
        </p:txBody>
      </p:sp>
      <p:sp>
        <p:nvSpPr>
          <p:cNvPr id="23" name="Oval 22"/>
          <p:cNvSpPr/>
          <p:nvPr/>
        </p:nvSpPr>
        <p:spPr>
          <a:xfrm>
            <a:off x="9070848" y="1572768"/>
            <a:ext cx="438912" cy="438912"/>
          </a:xfrm>
          <a:prstGeom prst="ellipse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1682496"/>
            <a:ext cx="438912" cy="1554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2176272"/>
            <a:ext cx="2331720" cy="22860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00" b="1">
                <a:solidFill>
                  <a:srgbClr val="121B30"/>
                </a:solidFill>
                <a:latin typeface="Aptos"/>
              </a:rPr>
              <a:t>DECISION-READY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2523744"/>
            <a:ext cx="2267712" cy="621792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50" b="0">
                <a:solidFill>
                  <a:srgbClr val="5F6978"/>
                </a:solidFill>
                <a:latin typeface="Aptos"/>
              </a:rPr>
              <a:t>Classifies exception vs edge case and ships an evidence-rich report.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520440"/>
            <a:ext cx="11045952" cy="1600200"/>
          </a:xfrm>
          <a:prstGeom prst="roundRect">
            <a:avLst/>
          </a:prstGeom>
          <a:solidFill>
            <a:srgbClr val="12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67328"/>
            <a:ext cx="2377440" cy="20116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1">
                <a:solidFill>
                  <a:srgbClr val="FFAB81"/>
                </a:solidFill>
                <a:latin typeface="Aptos"/>
              </a:rPr>
              <a:t>STANDOUT DEMO MOMENT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069080"/>
            <a:ext cx="6400800" cy="3840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“The same app, after one run, is no longer the same search space.”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590288"/>
            <a:ext cx="6766560" cy="38404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00" b="0">
                <a:solidFill>
                  <a:srgbClr val="DAE1EC"/>
                </a:solidFill>
                <a:latin typeface="Aptos"/>
              </a:rPr>
              <a:t>Run 1 discovers a stale-cart path.
Run 2 remembers it, skips the duplicate, and targets a new failure boundary.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3767328"/>
            <a:ext cx="2852928" cy="1078992"/>
          </a:xfrm>
          <a:prstGeom prst="roundRect">
            <a:avLst/>
          </a:prstGeom>
          <a:solidFill>
            <a:srgbClr val="F6F8FB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66760" y="3767328"/>
            <a:ext cx="64008" cy="1078992"/>
          </a:xfrm>
          <a:prstGeom prst="rect">
            <a:avLst/>
          </a:prstGeom>
          <a:solidFill>
            <a:srgbClr val="F26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67928" y="3931920"/>
            <a:ext cx="2505456" cy="292608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100" b="1">
                <a:solidFill>
                  <a:srgbClr val="121B30"/>
                </a:solidFill>
                <a:latin typeface="Aptos"/>
              </a:rPr>
              <a:t>Value in one 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7928" y="4379976"/>
            <a:ext cx="2487168" cy="329184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950" b="0">
                <a:solidFill>
                  <a:srgbClr val="5F6978"/>
                </a:solidFill>
                <a:latin typeface="Aptos"/>
              </a:rPr>
              <a:t>Less scripted coverage. More unknown defects found — with proof engineers can reproduce.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806440"/>
            <a:ext cx="10972800" cy="27432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1000" b="1">
                <a:solidFill>
                  <a:srgbClr val="F26323"/>
                </a:solidFill>
                <a:latin typeface="Aptos"/>
              </a:rPr>
              <a:t>UNIQUE VALUE  |  Customer behavior is the test plan. Memory is the accelerator. Evidence is the output.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74536"/>
            <a:ext cx="3657600" cy="13716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l"/>
            <a:r>
              <a:rPr sz="700" b="0">
                <a:solidFill>
                  <a:srgbClr val="5F6978"/>
                </a:solidFill>
                <a:latin typeface="Aptos"/>
              </a:rPr>
              <a:t>COFORGE 2026  |  CHAOSQA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</p:spPr>
        <p:txBody>
          <a:bodyPr wrap="square" lIns="54864" rIns="54864" tIns="27432">
            <a:spAutoFit/>
          </a:bodyPr>
          <a:lstStyle/>
          <a:p>
            <a:pPr algn="r"/>
            <a:r>
              <a:rPr sz="800" b="1">
                <a:solidFill>
                  <a:srgbClr val="F26323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